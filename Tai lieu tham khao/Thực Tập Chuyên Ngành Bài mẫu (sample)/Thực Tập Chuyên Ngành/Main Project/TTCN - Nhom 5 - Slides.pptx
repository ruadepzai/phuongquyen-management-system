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8288000" cy="10287000"/>
  <p:notesSz cx="6858000" cy="9144000"/>
  <p:embeddedFontLst>
    <p:embeddedFont>
      <p:font typeface="Roboto Bold" panose="02000000000000000000"/>
      <p:bold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League Spartan" panose="00000800000000000000"/>
      <p:bold r:id="rId40"/>
    </p:embeddedFont>
    <p:embeddedFont>
      <p:font typeface="Poppins" panose="00000500000000000000"/>
      <p:regular r:id="rId41"/>
      <p:bold r:id="rId42"/>
      <p:italic r:id="rId43"/>
      <p:boldItalic r:id="rId44"/>
    </p:embeddedFont>
    <p:embeddedFont>
      <p:font typeface="Roboto" panose="02000000000000000000"/>
      <p:regular r:id="rId45"/>
      <p:bold r:id="rId46"/>
      <p:italic r:id="rId47"/>
      <p:boldItalic r:id="rId48"/>
    </p:embeddedFont>
    <p:embeddedFont>
      <p:font typeface="Calibri" panose="020F0502020204030204" charset="0"/>
      <p:regular r:id="rId49"/>
      <p:bold r:id="rId50"/>
      <p:italic r:id="rId51"/>
      <p:boldItalic r:id="rId52"/>
    </p:embeddedFont>
    <p:embeddedFont>
      <p:font typeface="Archivo Black" panose="020B0A03020202020B04"/>
      <p:regular r:id="rId53"/>
    </p:embeddedFont>
    <p:embeddedFont>
      <p:font typeface="Roboto Italics" panose="02000000000000000000"/>
      <p:italic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3" d="100"/>
          <a:sy n="53" d="100"/>
        </p:scale>
        <p:origin x="558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font" Target="fonts/font20.fntdata"/><Relationship Id="rId53" Type="http://schemas.openxmlformats.org/officeDocument/2006/relationships/font" Target="fonts/font19.fntdata"/><Relationship Id="rId52" Type="http://schemas.openxmlformats.org/officeDocument/2006/relationships/font" Target="fonts/font18.fntdata"/><Relationship Id="rId51" Type="http://schemas.openxmlformats.org/officeDocument/2006/relationships/font" Target="fonts/font17.fntdata"/><Relationship Id="rId50" Type="http://schemas.openxmlformats.org/officeDocument/2006/relationships/font" Target="fonts/font16.fntdata"/><Relationship Id="rId5" Type="http://schemas.openxmlformats.org/officeDocument/2006/relationships/slide" Target="slides/slide3.xml"/><Relationship Id="rId49" Type="http://schemas.openxmlformats.org/officeDocument/2006/relationships/font" Target="fonts/font15.fntdata"/><Relationship Id="rId48" Type="http://schemas.openxmlformats.org/officeDocument/2006/relationships/font" Target="fonts/font14.fntdata"/><Relationship Id="rId47" Type="http://schemas.openxmlformats.org/officeDocument/2006/relationships/font" Target="fonts/font13.fntdata"/><Relationship Id="rId46" Type="http://schemas.openxmlformats.org/officeDocument/2006/relationships/font" Target="fonts/font12.fntdata"/><Relationship Id="rId45" Type="http://schemas.openxmlformats.org/officeDocument/2006/relationships/font" Target="fonts/font11.fntdata"/><Relationship Id="rId44" Type="http://schemas.openxmlformats.org/officeDocument/2006/relationships/font" Target="fonts/font10.fntdata"/><Relationship Id="rId43" Type="http://schemas.openxmlformats.org/officeDocument/2006/relationships/font" Target="fonts/font9.fntdata"/><Relationship Id="rId42" Type="http://schemas.openxmlformats.org/officeDocument/2006/relationships/font" Target="fonts/font8.fntdata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slide" Target="slides/slide2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2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09800" y="5753100"/>
            <a:ext cx="14287572" cy="21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004AA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PHÂN TÍCH VÀ THIẾT KẾ HỆ THỐNG QUẢN LÝ BÀI TẬP &amp; KẾT QUẢ HỌC TẬP CHO TRUNG TÂM GIÁO DỤC 1998 EDUCATION</a:t>
            </a:r>
            <a:endParaRPr lang="en-US" sz="4000" b="1" dirty="0">
              <a:solidFill>
                <a:srgbClr val="004AA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ctr">
              <a:lnSpc>
                <a:spcPts val="5600"/>
              </a:lnSpc>
            </a:pPr>
            <a:endParaRPr lang="en-US" sz="4000" b="1" dirty="0">
              <a:solidFill>
                <a:srgbClr val="004AA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23004" y="4077378"/>
            <a:ext cx="5641992" cy="91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5"/>
              </a:lnSpc>
            </a:pPr>
            <a:r>
              <a:rPr lang="en-US" sz="5305" b="1" dirty="0">
                <a:solidFill>
                  <a:srgbClr val="30364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NHÓM 05 </a:t>
            </a:r>
            <a:endParaRPr lang="en-US" sz="5305" b="1" dirty="0">
              <a:solidFill>
                <a:srgbClr val="30364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81400" y="2324100"/>
            <a:ext cx="11734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BÁO CÁO THỰC TẬP CHUYÊN NGÀNH</a:t>
            </a:r>
            <a:endParaRPr lang="en-US" sz="5000" b="1" dirty="0">
              <a:solidFill>
                <a:schemeClr val="accent6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379957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87034" y="1910171"/>
            <a:ext cx="1601933" cy="6466659"/>
            <a:chOff x="0" y="0"/>
            <a:chExt cx="421908" cy="1703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600729"/>
            <a:ext cx="6379957" cy="7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</a:pPr>
            <a:r>
              <a:rPr lang="en-US" sz="455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NỘI DUNG</a:t>
            </a:r>
            <a:endParaRPr lang="en-US" sz="455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465328" y="846821"/>
            <a:ext cx="1868266" cy="1868266"/>
            <a:chOff x="0" y="0"/>
            <a:chExt cx="2491021" cy="249102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2F2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2953" y="4437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1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65328" y="3172882"/>
            <a:ext cx="1868266" cy="1868266"/>
            <a:chOff x="0" y="0"/>
            <a:chExt cx="2491021" cy="249102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52953" y="4310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 b="1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2</a:t>
              </a:r>
              <a:endParaRPr lang="en-US" sz="7860" b="1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65328" y="5498943"/>
            <a:ext cx="1868266" cy="1868266"/>
            <a:chOff x="0" y="0"/>
            <a:chExt cx="2491021" cy="2491021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3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13190" y="1258667"/>
            <a:ext cx="7454665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TÌM HIỂU BÀI TOÁN</a:t>
            </a:r>
            <a:endParaRPr lang="en-US" sz="5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5426321" y="7824409"/>
            <a:ext cx="1868266" cy="1868266"/>
            <a:chOff x="0" y="0"/>
            <a:chExt cx="2491021" cy="2491021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4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013190" y="3584728"/>
            <a:ext cx="7454665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PHÂN TÍCH HỆ THỐNG</a:t>
            </a:r>
            <a:endParaRPr lang="en-US" sz="5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06163" y="5910788"/>
            <a:ext cx="7454665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THIẾT KẾ HỆ THỐNG</a:t>
            </a:r>
            <a:endParaRPr lang="en-US" sz="5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206163" y="8233954"/>
            <a:ext cx="7454665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TRIỂN KHAI HỆ THỐNG</a:t>
            </a:r>
            <a:endParaRPr lang="en-US" sz="50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2771138" cy="10287000"/>
            <a:chOff x="0" y="0"/>
            <a:chExt cx="3363592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63592" cy="2709333"/>
            </a:xfrm>
            <a:custGeom>
              <a:avLst/>
              <a:gdLst/>
              <a:ahLst/>
              <a:cxnLst/>
              <a:rect l="l" t="t" r="r" b="b"/>
              <a:pathLst>
                <a:path w="3363592" h="2709333">
                  <a:moveTo>
                    <a:pt x="0" y="0"/>
                  </a:moveTo>
                  <a:lnTo>
                    <a:pt x="3363592" y="0"/>
                  </a:lnTo>
                  <a:lnTo>
                    <a:pt x="3363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6359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4528" y="2472657"/>
            <a:ext cx="12222082" cy="67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Giới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thiệu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chung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:</a:t>
            </a:r>
            <a:endParaRPr lang="en-US" sz="2800" b="1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 Bold"/>
            </a:endParaRPr>
          </a:p>
          <a:p>
            <a:pPr marL="716280" lvl="1" indent="-457200" algn="just">
              <a:lnSpc>
                <a:spcPts val="384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Tên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đơn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vị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thực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tập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1998 Education</a:t>
            </a:r>
            <a:endParaRPr lang="en-US" sz="2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16280" lvl="1" indent="-457200" algn="just">
              <a:lnSpc>
                <a:spcPts val="384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Các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khóa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học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Ôn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cơ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bản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ôn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cấp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tốc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Ôn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HSG,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Ôn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vào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10,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Ôn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THPTQG</a:t>
            </a:r>
            <a:endParaRPr lang="en-US" sz="2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16280" lvl="1" indent="-457200" algn="just">
              <a:lnSpc>
                <a:spcPts val="384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Cơ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cấu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tổ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chức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Bộ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phận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Quản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lý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Bộ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phận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Giảng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dạy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Bộ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phận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Kinh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doanh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và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Marketing,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Kế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toán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-Tài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chính</a:t>
            </a:r>
            <a:endParaRPr lang="en-US" sz="2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algn="just">
              <a:lnSpc>
                <a:spcPts val="3840"/>
              </a:lnSpc>
            </a:pPr>
            <a:endParaRPr lang="en-US" sz="2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algn="just">
              <a:lnSpc>
                <a:spcPts val="3840"/>
              </a:lnSpc>
            </a:pP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Nhu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cầu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xây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dựng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,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phát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triển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hệ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thống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thông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tin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hiện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tại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của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đơn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vị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thực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tập</a:t>
            </a:r>
            <a:r>
              <a:rPr lang="en-US" sz="280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 Bold"/>
              </a:rPr>
              <a:t>: </a:t>
            </a:r>
            <a:endParaRPr lang="en-US" sz="2800" b="1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 Bold"/>
            </a:endParaRPr>
          </a:p>
          <a:p>
            <a:pPr marL="716280" lvl="1" indent="-457200" algn="just">
              <a:lnSpc>
                <a:spcPts val="384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Nhu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cầu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phía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giáo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viên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Giảm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tải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công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việc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thủ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công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theo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dõi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tiến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độ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học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tập</a:t>
            </a:r>
            <a:endParaRPr lang="en-US" sz="2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16280" lvl="1" indent="-457200" algn="just">
              <a:lnSpc>
                <a:spcPts val="384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Nhu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cầu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phía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học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viên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Nhận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kết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quả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nhanh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chóng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tránh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phân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tán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tài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liệu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học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tập</a:t>
            </a:r>
            <a:endParaRPr lang="en-US" sz="2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16280" lvl="1" indent="-457200" algn="just">
              <a:lnSpc>
                <a:spcPts val="384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Nhu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cầu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phía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quản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lý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trung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tâm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Báo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cáo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tự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động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thống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kê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tổng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hợp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Đảm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bảo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tính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minh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bạch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và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tập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trung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dữ</a:t>
            </a:r>
            <a:r>
              <a:rPr lang="en-US" sz="2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liệu</a:t>
            </a:r>
            <a:endParaRPr lang="en-US" sz="28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954000" y="1689886"/>
            <a:ext cx="5139905" cy="6907248"/>
            <a:chOff x="0" y="0"/>
            <a:chExt cx="3663950" cy="4923790"/>
          </a:xfrm>
        </p:grpSpPr>
        <p:sp>
          <p:nvSpPr>
            <p:cNvPr id="8" name="Freeform 8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25732" r="-3458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74528" y="1080286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1.1.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Giới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thiệu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đơn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vị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thực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endParaRPr lang="en-US" sz="35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1692878"/>
            <a:ext cx="3073669" cy="3174485"/>
            <a:chOff x="0" y="0"/>
            <a:chExt cx="6350000" cy="6558280"/>
          </a:xfrm>
        </p:grpSpPr>
        <p:sp>
          <p:nvSpPr>
            <p:cNvPr id="4" name="Freeform 4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-27567" r="-27567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28700" y="5315039"/>
            <a:ext cx="3073669" cy="3174485"/>
            <a:chOff x="0" y="0"/>
            <a:chExt cx="6350000" cy="6558280"/>
          </a:xfrm>
        </p:grpSpPr>
        <p:sp>
          <p:nvSpPr>
            <p:cNvPr id="7" name="Freeform 7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3"/>
              <a:stretch>
                <a:fillRect l="-27567" r="-27567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9" name="Freeform 9"/>
          <p:cNvSpPr/>
          <p:nvPr/>
        </p:nvSpPr>
        <p:spPr>
          <a:xfrm rot="5400000">
            <a:off x="10126312" y="4509187"/>
            <a:ext cx="1196020" cy="1030752"/>
          </a:xfrm>
          <a:custGeom>
            <a:avLst/>
            <a:gdLst/>
            <a:ahLst/>
            <a:cxnLst/>
            <a:rect l="l" t="t" r="r" b="b"/>
            <a:pathLst>
              <a:path w="1196020" h="1030752">
                <a:moveTo>
                  <a:pt x="0" y="0"/>
                </a:moveTo>
                <a:lnTo>
                  <a:pt x="1196020" y="0"/>
                </a:lnTo>
                <a:lnTo>
                  <a:pt x="1196020" y="1030752"/>
                </a:lnTo>
                <a:lnTo>
                  <a:pt x="0" y="1030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1.2. Giới thiệu bài toán</a:t>
            </a:r>
            <a:endParaRPr lang="en-US" sz="3500" b="1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220095" y="1559528"/>
            <a:ext cx="12039205" cy="246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Lý do </a:t>
            </a:r>
            <a:r>
              <a:rPr lang="en-US" sz="30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chọn</a:t>
            </a:r>
            <a:r>
              <a:rPr lang="en-US" sz="30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đề</a:t>
            </a:r>
            <a:r>
              <a:rPr lang="en-US" sz="30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tài</a:t>
            </a:r>
            <a:r>
              <a:rPr lang="en-US" sz="30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:</a:t>
            </a:r>
            <a:endParaRPr lang="en-US" sz="3000" b="1" dirty="0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thủ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công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rườm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rà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Phân tán dữ liệu 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Khó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khăn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trong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việc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theo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dõi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khảo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sát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tiến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độ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20095" y="5930731"/>
            <a:ext cx="12039205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Đề</a:t>
            </a:r>
            <a:r>
              <a:rPr lang="en-US" sz="30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xuất</a:t>
            </a:r>
            <a:r>
              <a:rPr lang="en-US" sz="30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giải</a:t>
            </a:r>
            <a:r>
              <a:rPr lang="en-US" sz="30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pháp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xây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dựng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một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hệ thống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mở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rộng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có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chức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năng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lý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được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tích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hợp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trực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tiếp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vào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phần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mềm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hiện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tại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của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trung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tâm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57175" y="1856762"/>
            <a:ext cx="18802350" cy="2006600"/>
            <a:chOff x="0" y="0"/>
            <a:chExt cx="4952059" cy="5284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93795" y="590550"/>
            <a:ext cx="1149349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004AAD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ĐÁNH GIÁ TÍNH KHẢ THI CỦA HỆ THỐNG</a:t>
            </a:r>
            <a:endParaRPr lang="en-US" sz="4500" b="1">
              <a:solidFill>
                <a:srgbClr val="004AAD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2509225"/>
            <a:ext cx="4544024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Về mặt kinh tế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1772" y="4282462"/>
            <a:ext cx="6160727" cy="2670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Lợi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nhuận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hữu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hình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Giảm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công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việc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thủ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công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tăng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hiệu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suất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Quản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lý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đồng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bộ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tiết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kiệm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chi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phí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Nâng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cao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trải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nghiệm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&amp;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chuyên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nghiệp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hóa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23780" y="4282462"/>
            <a:ext cx="5375348" cy="3109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Hệ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thống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vừa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phải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không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quá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phức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tạp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Giao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diện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thân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thiện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dễ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dùng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Đội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phát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triển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có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kinh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nghiệm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sẵn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sàng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học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thêm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Công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nghệ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đảm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bảo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bảo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mật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&amp;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mở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rộng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646232" y="4282462"/>
            <a:ext cx="5436307" cy="222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Tự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động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hóa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chấm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điểm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nhắc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nhở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Truy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cập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linh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hoạt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mọi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lúc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mọi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nơi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Tăng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hiệu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quả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&amp;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giảm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sai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sót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723780" y="2509225"/>
            <a:ext cx="4544024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Về mặt Kỹ thuật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55217" y="2509225"/>
            <a:ext cx="4544024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Tính khả thi hoạt động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1772" y="7286012"/>
            <a:ext cx="6160727" cy="222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Chi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phí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Ban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đầu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Phát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triển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thiết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bị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đào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tạo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  <a:p>
            <a:pPr marL="727075" lvl="1" indent="-457200" algn="l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Duy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trì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: Bảo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trì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lưu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trữ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kỹ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thuật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,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nâng</a:t>
            </a:r>
            <a:r>
              <a:rPr lang="en-US" sz="2800" dirty="0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 </a:t>
            </a:r>
            <a:r>
              <a:rPr lang="en-US" sz="2800" dirty="0" err="1">
                <a:solidFill>
                  <a:srgbClr val="30364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Poppins" panose="00000500000000000000"/>
              </a:rPr>
              <a:t>cấp</a:t>
            </a:r>
            <a:endParaRPr lang="en-US" sz="2800" dirty="0">
              <a:solidFill>
                <a:srgbClr val="30364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96178" y="1649819"/>
            <a:ext cx="6311432" cy="8052864"/>
          </a:xfrm>
          <a:custGeom>
            <a:avLst/>
            <a:gdLst/>
            <a:ahLst/>
            <a:cxnLst/>
            <a:rect l="l" t="t" r="r" b="b"/>
            <a:pathLst>
              <a:path w="6311432" h="8052864">
                <a:moveTo>
                  <a:pt x="0" y="0"/>
                </a:moveTo>
                <a:lnTo>
                  <a:pt x="6311432" y="0"/>
                </a:lnTo>
                <a:lnTo>
                  <a:pt x="6311432" y="8052863"/>
                </a:lnTo>
                <a:lnTo>
                  <a:pt x="0" y="8052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35085" y="1649819"/>
            <a:ext cx="6553223" cy="8052864"/>
          </a:xfrm>
          <a:custGeom>
            <a:avLst/>
            <a:gdLst/>
            <a:ahLst/>
            <a:cxnLst/>
            <a:rect l="l" t="t" r="r" b="b"/>
            <a:pathLst>
              <a:path w="6553223" h="8052864">
                <a:moveTo>
                  <a:pt x="0" y="0"/>
                </a:moveTo>
                <a:lnTo>
                  <a:pt x="6553223" y="0"/>
                </a:lnTo>
                <a:lnTo>
                  <a:pt x="6553223" y="8052863"/>
                </a:lnTo>
                <a:lnTo>
                  <a:pt x="0" y="8052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1.3. Tìm hiểu yêu cầu người dùng</a:t>
            </a:r>
            <a:endParaRPr lang="en-US" sz="3500" b="1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904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1.4. Tìm hiểu quy trình nghiệp vụ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62600" y="1438111"/>
            <a:ext cx="678497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Quản </a:t>
            </a:r>
            <a:r>
              <a:rPr lang="en-US" sz="30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lý</a:t>
            </a:r>
            <a:r>
              <a:rPr lang="en-US" sz="30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bài</a:t>
            </a:r>
            <a:r>
              <a:rPr lang="en-US" sz="30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tập</a:t>
            </a:r>
            <a:r>
              <a:rPr lang="en-US" sz="30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về</a:t>
            </a:r>
            <a:r>
              <a:rPr lang="en-US" sz="30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nhà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hiện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tại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8700" y="7589820"/>
            <a:ext cx="1196020" cy="1030752"/>
          </a:xfrm>
          <a:custGeom>
            <a:avLst/>
            <a:gdLst/>
            <a:ahLst/>
            <a:cxnLst/>
            <a:rect l="l" t="t" r="r" b="b"/>
            <a:pathLst>
              <a:path w="1196020" h="1030752">
                <a:moveTo>
                  <a:pt x="0" y="0"/>
                </a:moveTo>
                <a:lnTo>
                  <a:pt x="1196020" y="0"/>
                </a:lnTo>
                <a:lnTo>
                  <a:pt x="1196020" y="1030752"/>
                </a:lnTo>
                <a:lnTo>
                  <a:pt x="0" y="103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16274" y="7122322"/>
            <a:ext cx="12655451" cy="32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Quá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nhiều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bước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thủ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công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gây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mất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thời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gian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công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sức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5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Phụ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thuộc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nặng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vào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trợ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giảng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5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Khó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quản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lý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tiến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độ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việc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tổng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hợp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dữ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liệu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mất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nhiều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thời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gian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5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Không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có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tự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động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kiểm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tra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trạng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thái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(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làm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hay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chưa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làm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).</a:t>
            </a:r>
            <a:endParaRPr lang="en-US" sz="25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Thiếu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khả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năng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kê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phân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tích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theo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lớp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buổi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cá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nhân</a:t>
            </a:r>
            <a:r>
              <a:rPr lang="en-US" sz="2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5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320"/>
              </a:lnSpc>
            </a:pP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" b="21343"/>
          <a:stretch>
            <a:fillRect/>
          </a:stretch>
        </p:blipFill>
        <p:spPr>
          <a:xfrm>
            <a:off x="1905000" y="1942464"/>
            <a:ext cx="14478000" cy="4755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944834"/>
            <a:ext cx="1196020" cy="1030752"/>
          </a:xfrm>
          <a:custGeom>
            <a:avLst/>
            <a:gdLst/>
            <a:ahLst/>
            <a:cxnLst/>
            <a:rect l="l" t="t" r="r" b="b"/>
            <a:pathLst>
              <a:path w="1196020" h="1030752">
                <a:moveTo>
                  <a:pt x="0" y="0"/>
                </a:moveTo>
                <a:lnTo>
                  <a:pt x="1196020" y="0"/>
                </a:lnTo>
                <a:lnTo>
                  <a:pt x="1196020" y="1030752"/>
                </a:lnTo>
                <a:lnTo>
                  <a:pt x="0" y="103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1.4. Tìm hiểu quy trình nghiệp vụ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598944" y="2928439"/>
            <a:ext cx="14327486" cy="476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Số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hóa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qua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Quản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lý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&amp;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Cho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phép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trực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tiếp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hoặc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từ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file,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dễ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tái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sử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dụng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linh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hoạt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Tự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động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gửi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nhận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chấm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tự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động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(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nếu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trắc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nghiệm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).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làm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nhận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trực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tuyến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giảm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thời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gian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chờ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đợi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5400"/>
              </a:lnSpc>
            </a:pP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→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Cải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tiến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thành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2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con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Tạo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bài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tập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Làm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và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chấm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điểm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bài</a:t>
            </a:r>
            <a:r>
              <a:rPr lang="en-US" sz="2700" b="1" dirty="0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tập</a:t>
            </a:r>
            <a:endParaRPr lang="en-US" sz="2700" b="1" dirty="0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l">
              <a:lnSpc>
                <a:spcPts val="5400"/>
              </a:lnSpc>
            </a:pPr>
            <a:endParaRPr lang="en-US" sz="2700" b="1" dirty="0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960469" y="2044285"/>
            <a:ext cx="1116945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Đề xuất cải tiến quy trình Quản lý bài tập về nhà:</a:t>
            </a:r>
            <a:endParaRPr lang="en-US" sz="3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7962332"/>
            <a:ext cx="1196020" cy="1030752"/>
          </a:xfrm>
          <a:custGeom>
            <a:avLst/>
            <a:gdLst/>
            <a:ahLst/>
            <a:cxnLst/>
            <a:rect l="l" t="t" r="r" b="b"/>
            <a:pathLst>
              <a:path w="1196020" h="1030752">
                <a:moveTo>
                  <a:pt x="0" y="0"/>
                </a:moveTo>
                <a:lnTo>
                  <a:pt x="1196020" y="0"/>
                </a:lnTo>
                <a:lnTo>
                  <a:pt x="1196020" y="1030752"/>
                </a:lnTo>
                <a:lnTo>
                  <a:pt x="0" y="103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1.4. Tìm hiểu quy trình nghiệp vụ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988" y="1542677"/>
            <a:ext cx="703322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 trình </a:t>
            </a:r>
            <a:r>
              <a:rPr lang="en-US" sz="30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Quản lý kết quả học tập </a:t>
            </a:r>
            <a:r>
              <a:rPr lang="en-US" sz="30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hiện tại </a:t>
            </a:r>
            <a:endParaRPr lang="en-US" sz="30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000111" y="7052310"/>
            <a:ext cx="13219509" cy="38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thủ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công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dễ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sai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sót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thiếu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tính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hợp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lệ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Không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có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giao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diện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trực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quan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hoặc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hỗ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trợ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lọc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tìm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kiếm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tiêu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chí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Không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có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tính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năng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lưu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vết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chỉnh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sửa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khó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truy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xuất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nếu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có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nhầm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lẫn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Phụ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thuộc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mỗi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làm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đúng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lưu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file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gửi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lý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432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Việc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kê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toàn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bộ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số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của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trung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tâm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khó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tổng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hợp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phân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tích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4320"/>
              </a:lnSpc>
            </a:pP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69"/>
          <a:stretch>
            <a:fillRect/>
          </a:stretch>
        </p:blipFill>
        <p:spPr>
          <a:xfrm>
            <a:off x="2743200" y="2307797"/>
            <a:ext cx="12222082" cy="4496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944834"/>
            <a:ext cx="1196020" cy="1030752"/>
          </a:xfrm>
          <a:custGeom>
            <a:avLst/>
            <a:gdLst/>
            <a:ahLst/>
            <a:cxnLst/>
            <a:rect l="l" t="t" r="r" b="b"/>
            <a:pathLst>
              <a:path w="1196020" h="1030752">
                <a:moveTo>
                  <a:pt x="0" y="0"/>
                </a:moveTo>
                <a:lnTo>
                  <a:pt x="1196020" y="0"/>
                </a:lnTo>
                <a:lnTo>
                  <a:pt x="1196020" y="1030752"/>
                </a:lnTo>
                <a:lnTo>
                  <a:pt x="0" y="103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1.4. Tìm hiểu quy trình nghiệp vụ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598944" y="2928439"/>
            <a:ext cx="14284973" cy="543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Đưa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toàn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bộ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Quản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lý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&amp;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phép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trực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tiếp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nền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tảng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tính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hợp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lệ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của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số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cảnh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sai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sót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Tự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động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tính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trung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bình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phân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loại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ngay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sau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nhật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Gửi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thông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trên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Cho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phép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xuất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cáo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kê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48665" lvl="1" indent="-457200" algn="l">
              <a:lnSpc>
                <a:spcPts val="5400"/>
              </a:lnSpc>
              <a:buFont typeface="Wingdings" panose="05000000000000000000" pitchFamily="2" charset="2"/>
              <a:buChar char="Ø"/>
            </a:pP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lưu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lại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lịch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sử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chỉnh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sửa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điểm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đảm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bảo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minh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bạch</a:t>
            </a:r>
            <a:r>
              <a:rPr lang="en-US" sz="27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.</a:t>
            </a: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l">
              <a:lnSpc>
                <a:spcPts val="5400"/>
              </a:lnSpc>
            </a:pPr>
            <a:endParaRPr lang="en-US" sz="27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960469" y="2044285"/>
            <a:ext cx="121150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Đề xuất cải tiến quy trình Quản lý kết quả học tập:</a:t>
            </a:r>
            <a:endParaRPr lang="en-US" sz="3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379957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87034" y="1910171"/>
            <a:ext cx="1601933" cy="6466659"/>
            <a:chOff x="0" y="0"/>
            <a:chExt cx="421908" cy="1703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600729"/>
            <a:ext cx="6379957" cy="7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</a:pPr>
            <a:r>
              <a:rPr lang="en-US" sz="455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NỘI DUNG</a:t>
            </a:r>
            <a:endParaRPr lang="en-US" sz="455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465328" y="846821"/>
            <a:ext cx="1868266" cy="1868266"/>
            <a:chOff x="0" y="0"/>
            <a:chExt cx="2491021" cy="249102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2953" y="4437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1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65328" y="3172882"/>
            <a:ext cx="1868266" cy="1868266"/>
            <a:chOff x="0" y="0"/>
            <a:chExt cx="2491021" cy="249102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2F2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52953" y="4310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 b="1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2</a:t>
              </a:r>
              <a:endParaRPr lang="en-US" sz="7860" b="1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65328" y="5498943"/>
            <a:ext cx="1868266" cy="1868266"/>
            <a:chOff x="0" y="0"/>
            <a:chExt cx="2491021" cy="2491021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3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13190" y="1258667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TÌM HIỂU BÀI TOÁN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5426321" y="7824409"/>
            <a:ext cx="1868266" cy="1868266"/>
            <a:chOff x="0" y="0"/>
            <a:chExt cx="2491021" cy="2491021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4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013190" y="3584728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PHÂN TÍCH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06163" y="5910788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THIẾT KẾ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206163" y="8233954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TRIỂN KHAI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23131" y="1918421"/>
            <a:ext cx="3340100" cy="3784600"/>
            <a:chOff x="0" y="0"/>
            <a:chExt cx="879697" cy="9967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942975"/>
            <a:ext cx="7669061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2.1. XÁC ĐỊNH YÊU CẦU HỆ THỐNG</a:t>
            </a:r>
            <a:endParaRPr lang="en-US" sz="35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23131" y="6189650"/>
            <a:ext cx="3340100" cy="3784600"/>
            <a:chOff x="0" y="0"/>
            <a:chExt cx="879697" cy="9967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69553" y="3150321"/>
            <a:ext cx="2647254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Yêu cầu 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chức năng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27551" y="2534371"/>
            <a:ext cx="4650324" cy="302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Tạo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Làm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trực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tuyến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Chấm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Quản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lý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kết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69553" y="7421550"/>
            <a:ext cx="2647254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Yêu cầu phi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chức năng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427551" y="6838950"/>
            <a:ext cx="11258654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hoạt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động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ổn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định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Giao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diện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cần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thân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thiện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dễ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sử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dụng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Bảo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vệ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thông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tin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cá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nhân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của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người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dùng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và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dữ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liệu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Hỗ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trợ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nhiều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loại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thiết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bị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khác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nhau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truy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cập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mọi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lúc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mọi</a:t>
            </a:r>
            <a:r>
              <a:rPr lang="en-US" sz="3000" dirty="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nơi</a:t>
            </a:r>
            <a:endParaRPr lang="en-US" sz="3000" dirty="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0392" y="3280240"/>
            <a:ext cx="17587216" cy="3726520"/>
          </a:xfrm>
          <a:custGeom>
            <a:avLst/>
            <a:gdLst/>
            <a:ahLst/>
            <a:cxnLst/>
            <a:rect l="l" t="t" r="r" b="b"/>
            <a:pathLst>
              <a:path w="17587216" h="3726520">
                <a:moveTo>
                  <a:pt x="0" y="0"/>
                </a:moveTo>
                <a:lnTo>
                  <a:pt x="17587216" y="0"/>
                </a:lnTo>
                <a:lnTo>
                  <a:pt x="17587216" y="3726520"/>
                </a:lnTo>
                <a:lnTo>
                  <a:pt x="0" y="3726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762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2.2. Biểu đồ hoạt động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248400" y="2130768"/>
            <a:ext cx="6324599" cy="650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trình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tạo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bài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5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tập</a:t>
            </a:r>
            <a:r>
              <a:rPr lang="en-US" sz="35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online</a:t>
            </a:r>
            <a:endParaRPr lang="en-US" sz="35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13" y="3323483"/>
            <a:ext cx="18060374" cy="3640034"/>
          </a:xfrm>
          <a:custGeom>
            <a:avLst/>
            <a:gdLst/>
            <a:ahLst/>
            <a:cxnLst/>
            <a:rect l="l" t="t" r="r" b="b"/>
            <a:pathLst>
              <a:path w="18060374" h="3640034">
                <a:moveTo>
                  <a:pt x="0" y="0"/>
                </a:moveTo>
                <a:lnTo>
                  <a:pt x="18060374" y="0"/>
                </a:lnTo>
                <a:lnTo>
                  <a:pt x="18060374" y="3640034"/>
                </a:lnTo>
                <a:lnTo>
                  <a:pt x="0" y="3640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763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2.2. Biểu đồ hoạt động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88522" y="2216732"/>
            <a:ext cx="511095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 trình làm và chấm bài</a:t>
            </a:r>
            <a:endParaRPr lang="en-US" sz="3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6669" y="3168452"/>
            <a:ext cx="17803046" cy="4683416"/>
          </a:xfrm>
          <a:custGeom>
            <a:avLst/>
            <a:gdLst/>
            <a:ahLst/>
            <a:cxnLst/>
            <a:rect l="l" t="t" r="r" b="b"/>
            <a:pathLst>
              <a:path w="17803046" h="4683416">
                <a:moveTo>
                  <a:pt x="0" y="0"/>
                </a:moveTo>
                <a:lnTo>
                  <a:pt x="17803046" y="0"/>
                </a:lnTo>
                <a:lnTo>
                  <a:pt x="17803046" y="4683416"/>
                </a:lnTo>
                <a:lnTo>
                  <a:pt x="0" y="468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019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2.2. Biểu đồ hoạt động</a:t>
            </a:r>
            <a:endParaRPr lang="en-US" sz="350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896273" y="2130768"/>
            <a:ext cx="649545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Quy trình Quản lý kết quả học tập</a:t>
            </a:r>
            <a:endParaRPr lang="en-US" sz="3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29978" y="1596716"/>
            <a:ext cx="8828044" cy="8345260"/>
          </a:xfrm>
          <a:custGeom>
            <a:avLst/>
            <a:gdLst/>
            <a:ahLst/>
            <a:cxnLst/>
            <a:rect l="l" t="t" r="r" b="b"/>
            <a:pathLst>
              <a:path w="8828044" h="8345260">
                <a:moveTo>
                  <a:pt x="0" y="0"/>
                </a:moveTo>
                <a:lnTo>
                  <a:pt x="8828044" y="0"/>
                </a:lnTo>
                <a:lnTo>
                  <a:pt x="8828044" y="8345261"/>
                </a:lnTo>
                <a:lnTo>
                  <a:pt x="0" y="8345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30364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2.3. Biểu đồ ca sử dụng</a:t>
            </a:r>
            <a:endParaRPr lang="en-US" sz="3500" b="1">
              <a:solidFill>
                <a:srgbClr val="30364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71993" y="1708731"/>
            <a:ext cx="9344013" cy="8234412"/>
          </a:xfrm>
          <a:custGeom>
            <a:avLst/>
            <a:gdLst/>
            <a:ahLst/>
            <a:cxnLst/>
            <a:rect l="l" t="t" r="r" b="b"/>
            <a:pathLst>
              <a:path w="9344013" h="8234412">
                <a:moveTo>
                  <a:pt x="0" y="0"/>
                </a:moveTo>
                <a:lnTo>
                  <a:pt x="9344014" y="0"/>
                </a:lnTo>
                <a:lnTo>
                  <a:pt x="9344014" y="8234412"/>
                </a:lnTo>
                <a:lnTo>
                  <a:pt x="0" y="8234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30364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2.3. Biểu đồ ca sử dụng</a:t>
            </a:r>
            <a:endParaRPr lang="en-US" sz="3500" b="1">
              <a:solidFill>
                <a:srgbClr val="30364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84533" y="1747924"/>
            <a:ext cx="13318934" cy="7809427"/>
          </a:xfrm>
          <a:custGeom>
            <a:avLst/>
            <a:gdLst/>
            <a:ahLst/>
            <a:cxnLst/>
            <a:rect l="l" t="t" r="r" b="b"/>
            <a:pathLst>
              <a:path w="13318934" h="7809427">
                <a:moveTo>
                  <a:pt x="0" y="0"/>
                </a:moveTo>
                <a:lnTo>
                  <a:pt x="13318934" y="0"/>
                </a:lnTo>
                <a:lnTo>
                  <a:pt x="13318934" y="7809427"/>
                </a:lnTo>
                <a:lnTo>
                  <a:pt x="0" y="7809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1575" y="631507"/>
            <a:ext cx="122220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30364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2.3. Biểu đồ ca sử dụng</a:t>
            </a:r>
            <a:endParaRPr lang="en-US" sz="3500" b="1">
              <a:solidFill>
                <a:srgbClr val="30364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31552" y="116331"/>
            <a:ext cx="6535319" cy="10054338"/>
          </a:xfrm>
          <a:custGeom>
            <a:avLst/>
            <a:gdLst/>
            <a:ahLst/>
            <a:cxnLst/>
            <a:rect l="l" t="t" r="r" b="b"/>
            <a:pathLst>
              <a:path w="6535319" h="10054338">
                <a:moveTo>
                  <a:pt x="0" y="0"/>
                </a:moveTo>
                <a:lnTo>
                  <a:pt x="6535320" y="0"/>
                </a:lnTo>
                <a:lnTo>
                  <a:pt x="6535320" y="10054338"/>
                </a:lnTo>
                <a:lnTo>
                  <a:pt x="0" y="10054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31218" y="4727575"/>
            <a:ext cx="314890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3500" b="1">
                <a:solidFill>
                  <a:srgbClr val="303642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2.4. Biểu đồ lớp</a:t>
            </a:r>
            <a:endParaRPr lang="en-US" sz="3500" b="1">
              <a:solidFill>
                <a:srgbClr val="303642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379957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87034" y="1910171"/>
            <a:ext cx="1601933" cy="6466659"/>
            <a:chOff x="0" y="0"/>
            <a:chExt cx="421908" cy="1703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600729"/>
            <a:ext cx="6379957" cy="7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</a:pPr>
            <a:r>
              <a:rPr lang="en-US" sz="455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NỘI DUNG</a:t>
            </a:r>
            <a:endParaRPr lang="en-US" sz="455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465328" y="846821"/>
            <a:ext cx="1868266" cy="1868266"/>
            <a:chOff x="0" y="0"/>
            <a:chExt cx="2491021" cy="249102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2953" y="4437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1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65328" y="3172882"/>
            <a:ext cx="1868266" cy="1868266"/>
            <a:chOff x="0" y="0"/>
            <a:chExt cx="2491021" cy="249102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52953" y="4310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 b="1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2</a:t>
              </a:r>
              <a:endParaRPr lang="en-US" sz="7860" b="1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65328" y="5498943"/>
            <a:ext cx="1868266" cy="1868266"/>
            <a:chOff x="0" y="0"/>
            <a:chExt cx="2491021" cy="2491021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2F2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3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13190" y="1258667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TÌM HIỂU BÀI TOÁN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5426321" y="7824409"/>
            <a:ext cx="1868266" cy="1868266"/>
            <a:chOff x="0" y="0"/>
            <a:chExt cx="2491021" cy="2491021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4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013190" y="3584728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PHÂN TÍCH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06163" y="5910788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THIẾT KẾ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206163" y="8233954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TRIỂN KHAI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9389215" cy="10287000"/>
            <a:chOff x="0" y="0"/>
            <a:chExt cx="510662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06624" cy="2709333"/>
            </a:xfrm>
            <a:custGeom>
              <a:avLst/>
              <a:gdLst/>
              <a:ahLst/>
              <a:cxnLst/>
              <a:rect l="l" t="t" r="r" b="b"/>
              <a:pathLst>
                <a:path w="5106624" h="2709333">
                  <a:moveTo>
                    <a:pt x="0" y="0"/>
                  </a:moveTo>
                  <a:lnTo>
                    <a:pt x="5106624" y="0"/>
                  </a:lnTo>
                  <a:lnTo>
                    <a:pt x="5106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10662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FFFFF"/>
                  </a:solidFill>
                  <a:latin typeface="Archivo Black" panose="020B0A03020202020B04"/>
                  <a:ea typeface="Archivo Black" panose="020B0A03020202020B04"/>
                  <a:cs typeface="Archivo Black" panose="020B0A03020202020B04"/>
                  <a:sym typeface="Archivo Black" panose="020B0A03020202020B04"/>
                </a:rPr>
                <a:t>t</a:t>
              </a:r>
              <a:endParaRPr lang="en-US" sz="1900">
                <a:solidFill>
                  <a:srgbClr val="FFFFFF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8843639" y="1980138"/>
            <a:ext cx="8616245" cy="6315870"/>
          </a:xfrm>
          <a:custGeom>
            <a:avLst/>
            <a:gdLst/>
            <a:ahLst/>
            <a:cxnLst/>
            <a:rect l="l" t="t" r="r" b="b"/>
            <a:pathLst>
              <a:path w="8616245" h="6315870">
                <a:moveTo>
                  <a:pt x="0" y="0"/>
                </a:moveTo>
                <a:lnTo>
                  <a:pt x="8616244" y="0"/>
                </a:lnTo>
                <a:lnTo>
                  <a:pt x="8616244" y="6315870"/>
                </a:lnTo>
                <a:lnTo>
                  <a:pt x="0" y="631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1475" y="1990992"/>
            <a:ext cx="6542169" cy="6305016"/>
          </a:xfrm>
          <a:custGeom>
            <a:avLst/>
            <a:gdLst/>
            <a:ahLst/>
            <a:cxnLst/>
            <a:rect l="l" t="t" r="r" b="b"/>
            <a:pathLst>
              <a:path w="6542169" h="6305016">
                <a:moveTo>
                  <a:pt x="0" y="0"/>
                </a:moveTo>
                <a:lnTo>
                  <a:pt x="6542169" y="0"/>
                </a:lnTo>
                <a:lnTo>
                  <a:pt x="6542169" y="6305016"/>
                </a:lnTo>
                <a:lnTo>
                  <a:pt x="0" y="6305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677863"/>
            <a:ext cx="5044480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3.1. Thiết kế cơ sở dữ liệu</a:t>
            </a:r>
            <a:endParaRPr lang="en-US" sz="3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73974" y="8642350"/>
            <a:ext cx="4412456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Sơ đồ thực thể liên kết</a:t>
            </a:r>
            <a:endParaRPr lang="en-US" sz="3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94312" y="8642350"/>
            <a:ext cx="3314899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Lược đồ quan hệ</a:t>
            </a:r>
            <a:endParaRPr lang="en-US" sz="35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48868" y="1633522"/>
            <a:ext cx="12390265" cy="7624778"/>
          </a:xfrm>
          <a:custGeom>
            <a:avLst/>
            <a:gdLst/>
            <a:ahLst/>
            <a:cxnLst/>
            <a:rect l="l" t="t" r="r" b="b"/>
            <a:pathLst>
              <a:path w="12390265" h="7624778">
                <a:moveTo>
                  <a:pt x="0" y="0"/>
                </a:moveTo>
                <a:lnTo>
                  <a:pt x="12390264" y="0"/>
                </a:lnTo>
                <a:lnTo>
                  <a:pt x="12390264" y="7624778"/>
                </a:lnTo>
                <a:lnTo>
                  <a:pt x="0" y="7624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12750"/>
            <a:ext cx="5372100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3.2.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Thiết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kế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giao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diện</a:t>
            </a:r>
            <a:endParaRPr lang="en-US" sz="3500" b="1" dirty="0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76999" y="9433523"/>
            <a:ext cx="7562801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Giao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diện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trang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tổng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quan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đăng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nhập</a:t>
            </a:r>
            <a:endParaRPr lang="en-US" sz="2800" i="1" dirty="0">
              <a:solidFill>
                <a:srgbClr val="303642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54242" y="1912865"/>
            <a:ext cx="11722637" cy="7345435"/>
          </a:xfrm>
          <a:custGeom>
            <a:avLst/>
            <a:gdLst/>
            <a:ahLst/>
            <a:cxnLst/>
            <a:rect l="l" t="t" r="r" b="b"/>
            <a:pathLst>
              <a:path w="11722637" h="7345435">
                <a:moveTo>
                  <a:pt x="0" y="0"/>
                </a:moveTo>
                <a:lnTo>
                  <a:pt x="11722637" y="0"/>
                </a:lnTo>
                <a:lnTo>
                  <a:pt x="11722637" y="7345435"/>
                </a:lnTo>
                <a:lnTo>
                  <a:pt x="0" y="7345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12750"/>
            <a:ext cx="4991100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3.2.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Thiết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kế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giao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diện</a:t>
            </a:r>
            <a:endParaRPr lang="en-US" sz="3500" b="1" dirty="0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29211" y="9433523"/>
            <a:ext cx="10429577" cy="4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Giao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diện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trang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danh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sách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lớp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học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của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một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giáo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viên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đảm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nhận</a:t>
            </a:r>
            <a:endParaRPr lang="en-US" sz="2800" i="1" dirty="0">
              <a:solidFill>
                <a:srgbClr val="303642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7241" y="2306052"/>
            <a:ext cx="8756759" cy="5487007"/>
          </a:xfrm>
          <a:custGeom>
            <a:avLst/>
            <a:gdLst/>
            <a:ahLst/>
            <a:cxnLst/>
            <a:rect l="l" t="t" r="r" b="b"/>
            <a:pathLst>
              <a:path w="8756759" h="5487007">
                <a:moveTo>
                  <a:pt x="0" y="0"/>
                </a:moveTo>
                <a:lnTo>
                  <a:pt x="8756759" y="0"/>
                </a:lnTo>
                <a:lnTo>
                  <a:pt x="8756759" y="5487008"/>
                </a:lnTo>
                <a:lnTo>
                  <a:pt x="0" y="548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32152" y="2095131"/>
            <a:ext cx="8278598" cy="5908849"/>
          </a:xfrm>
          <a:custGeom>
            <a:avLst/>
            <a:gdLst/>
            <a:ahLst/>
            <a:cxnLst/>
            <a:rect l="l" t="t" r="r" b="b"/>
            <a:pathLst>
              <a:path w="8278598" h="5908849">
                <a:moveTo>
                  <a:pt x="0" y="0"/>
                </a:moveTo>
                <a:lnTo>
                  <a:pt x="8278598" y="0"/>
                </a:lnTo>
                <a:lnTo>
                  <a:pt x="8278598" y="5908850"/>
                </a:lnTo>
                <a:lnTo>
                  <a:pt x="0" y="590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12750"/>
            <a:ext cx="5295900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3.2.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Thiết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kế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giao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diện</a:t>
            </a:r>
            <a:endParaRPr lang="en-US" sz="3500" b="1" dirty="0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89168" y="8953500"/>
            <a:ext cx="350966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Giao diện tạo bài tập </a:t>
            </a:r>
            <a:endParaRPr lang="en-US" sz="3000" i="1">
              <a:solidFill>
                <a:srgbClr val="303642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92005" y="1332827"/>
            <a:ext cx="11103990" cy="7925473"/>
          </a:xfrm>
          <a:custGeom>
            <a:avLst/>
            <a:gdLst/>
            <a:ahLst/>
            <a:cxnLst/>
            <a:rect l="l" t="t" r="r" b="b"/>
            <a:pathLst>
              <a:path w="11103990" h="7925473">
                <a:moveTo>
                  <a:pt x="0" y="0"/>
                </a:moveTo>
                <a:lnTo>
                  <a:pt x="11103990" y="0"/>
                </a:lnTo>
                <a:lnTo>
                  <a:pt x="11103990" y="7925473"/>
                </a:lnTo>
                <a:lnTo>
                  <a:pt x="0" y="7925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6770" y="412750"/>
            <a:ext cx="5696429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3.2.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Thiết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kế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giao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diện</a:t>
            </a:r>
            <a:endParaRPr lang="en-US" sz="3500" b="1" dirty="0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48141" y="9411976"/>
            <a:ext cx="359171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Giao diện làm bài tập </a:t>
            </a:r>
            <a:endParaRPr lang="en-US" sz="3000" i="1">
              <a:solidFill>
                <a:srgbClr val="303642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11207" y="1467581"/>
            <a:ext cx="11465586" cy="7790719"/>
          </a:xfrm>
          <a:custGeom>
            <a:avLst/>
            <a:gdLst/>
            <a:ahLst/>
            <a:cxnLst/>
            <a:rect l="l" t="t" r="r" b="b"/>
            <a:pathLst>
              <a:path w="11465586" h="7790719">
                <a:moveTo>
                  <a:pt x="0" y="0"/>
                </a:moveTo>
                <a:lnTo>
                  <a:pt x="11465586" y="0"/>
                </a:lnTo>
                <a:lnTo>
                  <a:pt x="11465586" y="7790719"/>
                </a:lnTo>
                <a:lnTo>
                  <a:pt x="0" y="779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6770" y="412750"/>
            <a:ext cx="4934429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3.2.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Thiết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kế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giao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diện</a:t>
            </a:r>
            <a:endParaRPr lang="en-US" sz="3500" b="1" dirty="0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48238" y="9411976"/>
            <a:ext cx="8391525" cy="4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Giao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diện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giáo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viên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chấm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điểm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và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nhận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xét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bài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làm</a:t>
            </a:r>
            <a:endParaRPr lang="en-US" sz="2800" i="1" dirty="0">
              <a:solidFill>
                <a:srgbClr val="303642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43828" y="1306774"/>
            <a:ext cx="11200343" cy="7951526"/>
          </a:xfrm>
          <a:custGeom>
            <a:avLst/>
            <a:gdLst/>
            <a:ahLst/>
            <a:cxnLst/>
            <a:rect l="l" t="t" r="r" b="b"/>
            <a:pathLst>
              <a:path w="11200343" h="7951526">
                <a:moveTo>
                  <a:pt x="0" y="0"/>
                </a:moveTo>
                <a:lnTo>
                  <a:pt x="11200344" y="0"/>
                </a:lnTo>
                <a:lnTo>
                  <a:pt x="11200344" y="7951526"/>
                </a:lnTo>
                <a:lnTo>
                  <a:pt x="0" y="7951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6770" y="412750"/>
            <a:ext cx="5239229" cy="583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3.2.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Thiết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kế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giao</a:t>
            </a:r>
            <a:r>
              <a:rPr lang="en-US" sz="3500" b="1" dirty="0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diện</a:t>
            </a:r>
            <a:endParaRPr lang="en-US" sz="3500" b="1" dirty="0">
              <a:solidFill>
                <a:srgbClr val="000000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31829" y="9411976"/>
            <a:ext cx="7424341" cy="4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Giao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diện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nhập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điểm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theo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đầu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điểm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lựa</a:t>
            </a:r>
            <a:r>
              <a:rPr lang="en-US" sz="2800" i="1" dirty="0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 </a:t>
            </a:r>
            <a:r>
              <a:rPr lang="en-US" sz="2800" i="1" dirty="0" err="1">
                <a:solidFill>
                  <a:srgbClr val="303642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chọn</a:t>
            </a:r>
            <a:endParaRPr lang="en-US" sz="2800" i="1" dirty="0">
              <a:solidFill>
                <a:srgbClr val="303642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379957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87034" y="1910171"/>
            <a:ext cx="1601933" cy="6466659"/>
            <a:chOff x="0" y="0"/>
            <a:chExt cx="421908" cy="1703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2F5F9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600729"/>
            <a:ext cx="6379957" cy="7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0"/>
              </a:lnSpc>
            </a:pPr>
            <a:r>
              <a:rPr lang="en-US" sz="4550" b="1">
                <a:solidFill>
                  <a:srgbClr val="FFFFFF"/>
                </a:solidFill>
                <a:latin typeface="Roboto Bold" panose="02000000000000000000"/>
                <a:ea typeface="Roboto Bold" panose="02000000000000000000"/>
                <a:cs typeface="Roboto Bold" panose="02000000000000000000"/>
                <a:sym typeface="Roboto Bold" panose="02000000000000000000"/>
              </a:rPr>
              <a:t>NỘI DUNG</a:t>
            </a:r>
            <a:endParaRPr lang="en-US" sz="4550" b="1">
              <a:solidFill>
                <a:srgbClr val="FFFFFF"/>
              </a:solidFill>
              <a:latin typeface="Roboto Bold" panose="02000000000000000000"/>
              <a:ea typeface="Roboto Bold" panose="02000000000000000000"/>
              <a:cs typeface="Roboto Bold" panose="02000000000000000000"/>
              <a:sym typeface="Roboto Bold" panose="020000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465328" y="846821"/>
            <a:ext cx="1868266" cy="1868266"/>
            <a:chOff x="0" y="0"/>
            <a:chExt cx="2491021" cy="249102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2953" y="4437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1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65328" y="3172882"/>
            <a:ext cx="1868266" cy="1868266"/>
            <a:chOff x="0" y="0"/>
            <a:chExt cx="2491021" cy="249102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52953" y="431059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 b="1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2</a:t>
              </a:r>
              <a:endParaRPr lang="en-US" sz="7860" b="1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65328" y="5498943"/>
            <a:ext cx="1868266" cy="1868266"/>
            <a:chOff x="0" y="0"/>
            <a:chExt cx="2491021" cy="2491021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3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13190" y="1258667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TÌM HIỂU BÀI TOÁN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5426321" y="7824409"/>
            <a:ext cx="1868266" cy="1868266"/>
            <a:chOff x="0" y="0"/>
            <a:chExt cx="2491021" cy="2491021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2491021" cy="2491021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2F2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52953" y="431800"/>
              <a:ext cx="2185114" cy="173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0"/>
                </a:lnSpc>
              </a:pPr>
              <a:r>
                <a:rPr lang="en-US" sz="7860">
                  <a:solidFill>
                    <a:srgbClr val="000000"/>
                  </a:solidFill>
                  <a:latin typeface="League Spartan" panose="00000800000000000000"/>
                  <a:ea typeface="League Spartan" panose="00000800000000000000"/>
                  <a:cs typeface="League Spartan" panose="00000800000000000000"/>
                  <a:sym typeface="League Spartan" panose="00000800000000000000"/>
                </a:rPr>
                <a:t>4</a:t>
              </a:r>
              <a:endPara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013190" y="3584728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PHÂN TÍCH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06163" y="5910788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THIẾT KẾ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206163" y="8233954"/>
            <a:ext cx="7454665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TRIỂN KHAI HỆ THỐNG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90560" y="1154989"/>
            <a:ext cx="9313180" cy="8103311"/>
          </a:xfrm>
          <a:custGeom>
            <a:avLst/>
            <a:gdLst/>
            <a:ahLst/>
            <a:cxnLst/>
            <a:rect l="l" t="t" r="r" b="b"/>
            <a:pathLst>
              <a:path w="9313180" h="8103311">
                <a:moveTo>
                  <a:pt x="0" y="0"/>
                </a:moveTo>
                <a:lnTo>
                  <a:pt x="9313180" y="0"/>
                </a:lnTo>
                <a:lnTo>
                  <a:pt x="9313180" y="8103311"/>
                </a:lnTo>
                <a:lnTo>
                  <a:pt x="0" y="8103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46004" y="495300"/>
            <a:ext cx="960229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1">
                <a:solidFill>
                  <a:srgbClr val="FFFFFF"/>
                </a:solidFill>
                <a:latin typeface="Roboto Italics" panose="02000000000000000000"/>
                <a:ea typeface="Roboto Italics" panose="02000000000000000000"/>
                <a:cs typeface="Roboto Italics" panose="02000000000000000000"/>
                <a:sym typeface="Roboto Italics" panose="02000000000000000000"/>
              </a:rPr>
              <a:t>Bảng định hướng triển khai theo từng giai đoạn chức năng</a:t>
            </a:r>
            <a:endParaRPr lang="en-US" sz="3000" i="1">
              <a:solidFill>
                <a:srgbClr val="FFFFFF"/>
              </a:solidFill>
              <a:latin typeface="Roboto Italics" panose="02000000000000000000"/>
              <a:ea typeface="Roboto Italics" panose="02000000000000000000"/>
              <a:cs typeface="Roboto Italics" panose="02000000000000000000"/>
              <a:sym typeface="Roboto Italics" panose="020000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28539" y="1428750"/>
            <a:ext cx="7544954" cy="794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được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thiết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với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các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thành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phần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chính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Frontend: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Thiết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kế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bằng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HTML, CSS (Bootstrap), JavaScript.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Backend: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Phát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triển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bằng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ngôn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ngữ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PHP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Database: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Sử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dụng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MySQL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just">
              <a:lnSpc>
                <a:spcPts val="4800"/>
              </a:lnSpc>
            </a:pP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just">
              <a:lnSpc>
                <a:spcPts val="4800"/>
              </a:lnSpc>
            </a:pP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Người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dùng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chính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trong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hệ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thống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Giáo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Học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781050" lvl="1" indent="-457200" algn="just">
              <a:lnSpc>
                <a:spcPts val="48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Quản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trị</a:t>
            </a:r>
            <a:r>
              <a:rPr lang="en-US" sz="3000" dirty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viên</a:t>
            </a: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algn="just">
              <a:lnSpc>
                <a:spcPts val="4800"/>
              </a:lnSpc>
            </a:pPr>
            <a:endParaRPr lang="en-US" sz="3000" dirty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5031</Words>
  <Application>WPS Presentation</Application>
  <PresentationFormat>Custom</PresentationFormat>
  <Paragraphs>256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SimSun</vt:lpstr>
      <vt:lpstr>Wingdings</vt:lpstr>
      <vt:lpstr>Roboto Bold</vt:lpstr>
      <vt:lpstr>Roboto</vt:lpstr>
      <vt:lpstr>League Spartan</vt:lpstr>
      <vt:lpstr>Poppins</vt:lpstr>
      <vt:lpstr>Poppins Bold</vt:lpstr>
      <vt:lpstr>Segoe Print</vt:lpstr>
      <vt:lpstr>Roboto</vt:lpstr>
      <vt:lpstr>Microsoft YaHei</vt:lpstr>
      <vt:lpstr>Arial Unicode MS</vt:lpstr>
      <vt:lpstr>Calibri</vt:lpstr>
      <vt:lpstr>Archivo Black</vt:lpstr>
      <vt:lpstr>Roboto Italics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dc:creator/>
  <cp:lastModifiedBy>Asus Vivobook</cp:lastModifiedBy>
  <cp:revision>5</cp:revision>
  <dcterms:created xsi:type="dcterms:W3CDTF">2006-08-16T00:00:00Z</dcterms:created>
  <dcterms:modified xsi:type="dcterms:W3CDTF">2025-06-16T02:11:18Z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F510643948FB4F37A7D98C623CB23296_12</vt:lpwstr>
  </property>
  <property fmtid="{D5CDD505-2E9C-101B-9397-08002B2CF9AE}" pid="3" name="KSOProductBuildVer">
    <vt:lpwstr>1033-12.2.0.21546</vt:lpwstr>
  </property>
</Properties>
</file>